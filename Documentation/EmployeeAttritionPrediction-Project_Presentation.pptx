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263882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3657600" cy="3657600"/>
          </a:xfrm>
          <a:prstGeom prst="ellipse">
            <a:avLst/>
          </a:prstGeom>
          <a:solidFill>
            <a:srgbClr val="19205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AIML Summer Internship 2026  |  IIHMF, MNNIT Allahabad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960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Attrition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System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39776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employee attrition risk using classification models and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a live decision-support tool for HR teams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525780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 Srivastava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 Gupta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Adish Tripathi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CSE, United College of Engineering &amp; Research (UCER), Prayagraj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Team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1965960" y="2240280"/>
            <a:ext cx="731520" cy="7315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965960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</a:rPr>
              <a:t>AS</a:t>
            </a:r>
            <a:endParaRPr lang="en-US" sz="176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 Srivastava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25112" y="201168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5742432" y="22402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742432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</a:rPr>
              <a:t>PG</a:t>
            </a:r>
            <a:endParaRPr lang="en-US" sz="1760" dirty="0"/>
          </a:p>
        </p:txBody>
      </p:sp>
      <p:sp>
        <p:nvSpPr>
          <p:cNvPr id="11" name="Text 9"/>
          <p:cNvSpPr/>
          <p:nvPr/>
        </p:nvSpPr>
        <p:spPr>
          <a:xfrm>
            <a:off x="4325112" y="3063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 Gupta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25112" y="3520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01584" y="201168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F4F6FB"/>
          </a:solidFill>
          <a:ln/>
        </p:spPr>
      </p:sp>
      <p:sp>
        <p:nvSpPr>
          <p:cNvPr id="14" name="Shape 12"/>
          <p:cNvSpPr/>
          <p:nvPr/>
        </p:nvSpPr>
        <p:spPr>
          <a:xfrm>
            <a:off x="9518904" y="22402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9518904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</a:rPr>
              <a:t>AT</a:t>
            </a:r>
            <a:endParaRPr lang="en-US" sz="1760" dirty="0"/>
          </a:p>
        </p:txBody>
      </p:sp>
      <p:sp>
        <p:nvSpPr>
          <p:cNvPr id="16" name="Text 14"/>
          <p:cNvSpPr/>
          <p:nvPr/>
        </p:nvSpPr>
        <p:spPr>
          <a:xfrm>
            <a:off x="8101584" y="3063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Adish Tripathi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01584" y="3520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846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Computer Science &amp; Engineering, United College of Engineering &amp; Research (UCER), Prayagraj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Prediction System  |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492240" cy="4480560"/>
          </a:xfrm>
          <a:prstGeom prst="roundRect">
            <a:avLst>
              <a:gd name="adj" fmla="val 1633"/>
            </a:avLst>
          </a:prstGeom>
          <a:solidFill>
            <a:srgbClr val="F4F6F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4592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lose skilled employees every year, often without warning. Replacing them costs time, money, and institutional knowledge.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283464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Goal: Using historical HR records, predict whether a given employee is likely to leave the organization — so HR can act before it happens, not after.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44805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binary classification problem: Attrition = Yes / No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06640" y="1371600"/>
            <a:ext cx="4206240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406640" y="15544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1,470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406640" y="24688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records analyzed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06640" y="3749040"/>
            <a:ext cx="4206240" cy="2103120"/>
          </a:xfrm>
          <a:prstGeom prst="roundRect">
            <a:avLst>
              <a:gd name="adj" fmla="val 3478"/>
            </a:avLst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7406640" y="393192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16.1%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7406640" y="48463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B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employees left the company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Prediction System  |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49240" cy="1371600"/>
          </a:xfrm>
          <a:prstGeom prst="roundRect">
            <a:avLst>
              <a:gd name="adj" fmla="val 4667"/>
            </a:avLst>
          </a:prstGeom>
          <a:solidFill>
            <a:srgbClr val="F4F6FB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7830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</a:rPr>
              <a:t>1</a:t>
            </a:r>
            <a:endParaRPr lang="en-US" sz="1760" dirty="0"/>
          </a:p>
        </p:txBody>
      </p:sp>
      <p:sp>
        <p:nvSpPr>
          <p:cNvPr id="6" name="Text 4"/>
          <p:cNvSpPr/>
          <p:nvPr/>
        </p:nvSpPr>
        <p:spPr>
          <a:xfrm>
            <a:off x="1691640" y="160020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explore the HR dataset through thorough EDA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349240" cy="1371600"/>
          </a:xfrm>
          <a:prstGeom prst="roundRect">
            <a:avLst>
              <a:gd name="adj" fmla="val 4667"/>
            </a:avLst>
          </a:prstGeom>
          <a:solidFill>
            <a:srgbClr val="F4F6F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0" y="17830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</a:rPr>
              <a:t>2</a:t>
            </a:r>
            <a:endParaRPr lang="en-US" sz="1760" dirty="0"/>
          </a:p>
        </p:txBody>
      </p:sp>
      <p:sp>
        <p:nvSpPr>
          <p:cNvPr id="10" name="Text 8"/>
          <p:cNvSpPr/>
          <p:nvPr/>
        </p:nvSpPr>
        <p:spPr>
          <a:xfrm>
            <a:off x="7315200" y="160020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meaningful new features from raw HR fields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5349240" cy="1371600"/>
          </a:xfrm>
          <a:prstGeom prst="roundRect">
            <a:avLst>
              <a:gd name="adj" fmla="val 4667"/>
            </a:avLst>
          </a:prstGeom>
          <a:solidFill>
            <a:srgbClr val="F4F6FB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33832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383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</a:rPr>
              <a:t>3</a:t>
            </a:r>
            <a:endParaRPr lang="en-US" sz="1760" dirty="0"/>
          </a:p>
        </p:txBody>
      </p:sp>
      <p:sp>
        <p:nvSpPr>
          <p:cNvPr id="14" name="Text 12"/>
          <p:cNvSpPr/>
          <p:nvPr/>
        </p:nvSpPr>
        <p:spPr>
          <a:xfrm>
            <a:off x="1691640" y="320040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the imbalanced target using SMOTE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172200" y="3063240"/>
            <a:ext cx="5349240" cy="1371600"/>
          </a:xfrm>
          <a:prstGeom prst="roundRect">
            <a:avLst>
              <a:gd name="adj" fmla="val 4667"/>
            </a:avLst>
          </a:prstGeom>
          <a:solidFill>
            <a:srgbClr val="F4F6FB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0" y="33832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3383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</a:rPr>
              <a:t>4</a:t>
            </a:r>
            <a:endParaRPr lang="en-US" sz="1760" dirty="0"/>
          </a:p>
        </p:txBody>
      </p:sp>
      <p:sp>
        <p:nvSpPr>
          <p:cNvPr id="18" name="Text 16"/>
          <p:cNvSpPr/>
          <p:nvPr/>
        </p:nvSpPr>
        <p:spPr>
          <a:xfrm>
            <a:off x="7315200" y="320040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compare Logistic Regression, Decision Tree, Random Forest, XGBoost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48640" y="4663440"/>
            <a:ext cx="5349240" cy="1371600"/>
          </a:xfrm>
          <a:prstGeom prst="roundRect">
            <a:avLst>
              <a:gd name="adj" fmla="val 4667"/>
            </a:avLst>
          </a:prstGeom>
          <a:solidFill>
            <a:srgbClr val="F4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9834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983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</a:rPr>
              <a:t>5</a:t>
            </a:r>
            <a:endParaRPr lang="en-US" sz="1760" dirty="0"/>
          </a:p>
        </p:txBody>
      </p:sp>
      <p:sp>
        <p:nvSpPr>
          <p:cNvPr id="22" name="Text 20"/>
          <p:cNvSpPr/>
          <p:nvPr/>
        </p:nvSpPr>
        <p:spPr>
          <a:xfrm>
            <a:off x="1691640" y="480060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using Accuracy, Precision, Recall, F1, ROC-AUC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172200" y="4663440"/>
            <a:ext cx="5349240" cy="1371600"/>
          </a:xfrm>
          <a:prstGeom prst="roundRect">
            <a:avLst>
              <a:gd name="adj" fmla="val 4667"/>
            </a:avLst>
          </a:prstGeom>
          <a:solidFill>
            <a:srgbClr val="F4F6FB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0" y="49834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4983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</a:rPr>
              <a:t>6</a:t>
            </a:r>
            <a:endParaRPr lang="en-US" sz="1760" dirty="0"/>
          </a:p>
        </p:txBody>
      </p:sp>
      <p:sp>
        <p:nvSpPr>
          <p:cNvPr id="26" name="Text 24"/>
          <p:cNvSpPr/>
          <p:nvPr/>
        </p:nvSpPr>
        <p:spPr>
          <a:xfrm>
            <a:off x="7315200" y="480060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best model as a live Streamlit web app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Prediction System  |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Description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HR Analytics Employee Attrition Dataset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1,470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rows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8288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19659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337560" y="26517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9659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126480" y="26517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18288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8915400" y="19659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5.2 : 1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915400" y="26517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ratio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611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attribute groups: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402336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— Age, Gender, MaritalStatus, DistanceFromHome</a:t>
            </a:r>
            <a:endParaRPr lang="en-US" sz="135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 — MonthlyIncome, DailyRate, PercentSalaryHike, StockOptionLevel</a:t>
            </a:r>
            <a:endParaRPr lang="en-US" sz="135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&amp; Org — Department, JobRole, JobLevel, BusinessTravel</a:t>
            </a:r>
            <a:endParaRPr lang="en-US" sz="135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— JobSatisfaction, EnvironmentSatisfaction, WorkLifeBalance</a:t>
            </a:r>
            <a:endParaRPr lang="en-US" sz="135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— YearsAtCompany, TotalWorkingYears, YearsSinceLastPromotion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Prediction System  |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End-to-End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377440"/>
            <a:ext cx="1481328" cy="1188720"/>
          </a:xfrm>
          <a:prstGeom prst="roundRect">
            <a:avLst>
              <a:gd name="adj" fmla="val 6923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377440"/>
            <a:ext cx="14813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029968" y="2377440"/>
            <a:ext cx="182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392B"/>
                </a:solidFill>
              </a:rPr>
              <a:t>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194560" y="2377440"/>
            <a:ext cx="1481328" cy="1188720"/>
          </a:xfrm>
          <a:prstGeom prst="roundRect">
            <a:avLst>
              <a:gd name="adj" fmla="val 6923"/>
            </a:avLst>
          </a:prstGeom>
          <a:solidFill>
            <a:srgbClr val="44546A"/>
          </a:solidFill>
          <a:ln/>
        </p:spPr>
      </p:sp>
      <p:sp>
        <p:nvSpPr>
          <p:cNvPr id="7" name="Text 5"/>
          <p:cNvSpPr/>
          <p:nvPr/>
        </p:nvSpPr>
        <p:spPr>
          <a:xfrm>
            <a:off x="2194560" y="2377440"/>
            <a:ext cx="14813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675888" y="2377440"/>
            <a:ext cx="182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392B"/>
                </a:solidFill>
              </a:rPr>
              <a:t>➜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40480" y="2377440"/>
            <a:ext cx="1481328" cy="1188720"/>
          </a:xfrm>
          <a:prstGeom prst="roundRect">
            <a:avLst>
              <a:gd name="adj" fmla="val 6923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0" y="2377440"/>
            <a:ext cx="14813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321808" y="2377440"/>
            <a:ext cx="182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392B"/>
                </a:solidFill>
              </a:rPr>
              <a:t>➜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0" y="2377440"/>
            <a:ext cx="1481328" cy="1188720"/>
          </a:xfrm>
          <a:prstGeom prst="roundRect">
            <a:avLst>
              <a:gd name="adj" fmla="val 6923"/>
            </a:avLst>
          </a:prstGeom>
          <a:solidFill>
            <a:srgbClr val="44546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0" y="2377440"/>
            <a:ext cx="14813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967728" y="2377440"/>
            <a:ext cx="182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392B"/>
                </a:solidFill>
              </a:rPr>
              <a:t>➜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132320" y="2377440"/>
            <a:ext cx="1481328" cy="1188720"/>
          </a:xfrm>
          <a:prstGeom prst="roundRect">
            <a:avLst>
              <a:gd name="adj" fmla="val 6923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0" y="2377440"/>
            <a:ext cx="14813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613648" y="2377440"/>
            <a:ext cx="182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392B"/>
                </a:solidFill>
              </a:rPr>
              <a:t>➜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778240" y="2377440"/>
            <a:ext cx="1481328" cy="1188720"/>
          </a:xfrm>
          <a:prstGeom prst="roundRect">
            <a:avLst>
              <a:gd name="adj" fmla="val 6923"/>
            </a:avLst>
          </a:prstGeom>
          <a:solidFill>
            <a:srgbClr val="44546A"/>
          </a:solidFill>
          <a:ln/>
        </p:spPr>
      </p:sp>
      <p:sp>
        <p:nvSpPr>
          <p:cNvPr id="19" name="Text 17"/>
          <p:cNvSpPr/>
          <p:nvPr/>
        </p:nvSpPr>
        <p:spPr>
          <a:xfrm>
            <a:off x="8778240" y="2377440"/>
            <a:ext cx="14813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259568" y="2377440"/>
            <a:ext cx="182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392B"/>
                </a:solidFill>
              </a:rPr>
              <a:t>➜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424160" y="2377440"/>
            <a:ext cx="1481328" cy="1188720"/>
          </a:xfrm>
          <a:prstGeom prst="roundRect">
            <a:avLst>
              <a:gd name="adj" fmla="val 6923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10424160" y="2377440"/>
            <a:ext cx="14813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39319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the standard supervised ML lifecycle, ending in a deployed, user-facing prediction tool.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4663440"/>
            <a:ext cx="10789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split: 80% / 20%, stratified on Attrition</a:t>
            </a: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applied only on the training set to avoid data leakage</a:t>
            </a: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preprocessing reused at inference time inside the Streamlit app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Prediction System  |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</a:rPr>
              <a:t>✓</a:t>
            </a:r>
            <a:endParaRPr lang="en-US" sz="1210" dirty="0"/>
          </a:p>
        </p:txBody>
      </p:sp>
      <p:sp>
        <p:nvSpPr>
          <p:cNvPr id="5" name="Text 3"/>
          <p:cNvSpPr/>
          <p:nvPr/>
        </p:nvSpPr>
        <p:spPr>
          <a:xfrm>
            <a:off x="1234440" y="13716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4 constant columns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663440" y="13716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EmployeeCount, StandardHours, Over18, EmployeeNumber carry no predictive signal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</a:rPr>
              <a:t>✓</a:t>
            </a:r>
            <a:endParaRPr lang="en-US" sz="1210" dirty="0"/>
          </a:p>
        </p:txBody>
      </p:sp>
      <p:sp>
        <p:nvSpPr>
          <p:cNvPr id="9" name="Text 7"/>
          <p:cNvSpPr/>
          <p:nvPr/>
        </p:nvSpPr>
        <p:spPr>
          <a:xfrm>
            <a:off x="1234440" y="23317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data quality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663440" y="23317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missing values, zero duplicate rows — no imputation needed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</a:rPr>
              <a:t>✓</a:t>
            </a:r>
            <a:endParaRPr lang="en-US" sz="1210" dirty="0"/>
          </a:p>
        </p:txBody>
      </p:sp>
      <p:sp>
        <p:nvSpPr>
          <p:cNvPr id="13" name="Text 11"/>
          <p:cNvSpPr/>
          <p:nvPr/>
        </p:nvSpPr>
        <p:spPr>
          <a:xfrm>
            <a:off x="1234440" y="32918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 the target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663440" y="32918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mapped to 1 (Yes) / 0 (No)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</a:rPr>
              <a:t>✓</a:t>
            </a:r>
            <a:endParaRPr lang="en-US" sz="1210" dirty="0"/>
          </a:p>
        </p:txBody>
      </p:sp>
      <p:sp>
        <p:nvSpPr>
          <p:cNvPr id="17" name="Text 15"/>
          <p:cNvSpPr/>
          <p:nvPr/>
        </p:nvSpPr>
        <p:spPr>
          <a:xfrm>
            <a:off x="1234440" y="42519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Label-encoded 7 categorical fields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663440" y="425196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BusinessTravel, Department, EducationField, Gender, JobRole, MaritalStatus, OverTime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5257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257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</a:rPr>
              <a:t>✓</a:t>
            </a:r>
            <a:endParaRPr lang="en-US" sz="1210" dirty="0"/>
          </a:p>
        </p:txBody>
      </p:sp>
      <p:sp>
        <p:nvSpPr>
          <p:cNvPr id="21" name="Text 19"/>
          <p:cNvSpPr/>
          <p:nvPr/>
        </p:nvSpPr>
        <p:spPr>
          <a:xfrm>
            <a:off x="1234440" y="52120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all features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663440" y="5212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applied — required for Logistic Regression to converge well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Prediction System  | 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 — Key Insights</a:t>
            </a:r>
            <a:endParaRPr lang="en-US" sz="3000" dirty="0"/>
          </a:p>
        </p:txBody>
      </p:sp>
      <p:pic>
        <p:nvPicPr>
          <p:cNvPr id="3" name="Image 0" descr="/home/claude/EmployeeAttritionPrediction/Documentation/figures/04_overtime_vs_attri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3520440" cy="2816352"/>
          </a:xfrm>
          <a:prstGeom prst="rect">
            <a:avLst/>
          </a:prstGeom>
        </p:spPr>
      </p:pic>
      <p:pic>
        <p:nvPicPr>
          <p:cNvPr id="4" name="Image 1" descr="/home/claude/EmployeeAttritionPrediction/Documentation/figures/06_jobrole_attrition_rat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97680" y="1371600"/>
            <a:ext cx="3520440" cy="2816352"/>
          </a:xfrm>
          <a:prstGeom prst="rect">
            <a:avLst/>
          </a:prstGeom>
        </p:spPr>
      </p:pic>
      <p:pic>
        <p:nvPicPr>
          <p:cNvPr id="5" name="Image 2" descr="/home/claude/EmployeeAttritionPrediction/Documentation/figures/03_income_vs_attrition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46720" y="1371600"/>
            <a:ext cx="3520440" cy="2816352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48640" y="434340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who work OverTime leave at a much higher rate</a:t>
            </a:r>
            <a:endParaRPr lang="en-US" sz="145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Representatives &amp; Lab Technicians show the highest attrition by role</a:t>
            </a:r>
            <a:endParaRPr lang="en-US" sz="145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Leavers tend to have lower Monthly Income than those who stay</a:t>
            </a:r>
            <a:endParaRPr lang="en-US" sz="1450" dirty="0"/>
          </a:p>
        </p:txBody>
      </p:sp>
      <p:sp>
        <p:nvSpPr>
          <p:cNvPr id="7" name="Text 2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Prediction System  | 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554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TenureRatio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21488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YearsAtCompany / (TotalWorkingYears + 1)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37560" y="14173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0" y="1554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IncomePerYearExp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4720" y="21488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MonthlyIncome / (TotalWorkingYears + 1)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4173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</p:spPr>
      </p:sp>
      <p:sp>
        <p:nvSpPr>
          <p:cNvPr id="10" name="Text 8"/>
          <p:cNvSpPr/>
          <p:nvPr/>
        </p:nvSpPr>
        <p:spPr>
          <a:xfrm>
            <a:off x="6263640" y="1554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PromotionGap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63640" y="21488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YearsAtCompany − YearsSinceLastPromotion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915400" y="14173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9052560" y="1554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AvgSatisfaction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052560" y="21488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of 4 satisfaction &amp; work-life scores</a:t>
            </a:r>
            <a:endParaRPr lang="en-US" sz="1200" dirty="0"/>
          </a:p>
        </p:txBody>
      </p:sp>
      <p:pic>
        <p:nvPicPr>
          <p:cNvPr id="15" name="Image 0" descr="/home/claude/EmployeeAttritionPrediction/Documentation/figures/08_feature_import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566160" y="3429000"/>
            <a:ext cx="3291840" cy="32918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48640" y="33375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15 Feature Importances (Random Forest)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315200" y="3429000"/>
            <a:ext cx="4297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4 engineered features rank in the top 10 by importance:</a:t>
            </a:r>
            <a:endParaRPr lang="en-US" sz="140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IncomePerYearExp — rank #4</a:t>
            </a:r>
            <a:endParaRPr lang="en-US" sz="140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AvgSatisfaction — rank #8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Prediction System  | 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Used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49240" cy="1508760"/>
          </a:xfrm>
          <a:prstGeom prst="roundRect">
            <a:avLst>
              <a:gd name="adj" fmla="val 4848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52704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  ✅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984248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Linear, highly interpretable baseline. max_iter=1000. Deployed model.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172200" y="1417320"/>
            <a:ext cx="5349240" cy="1508760"/>
          </a:xfrm>
          <a:prstGeom prst="roundRect">
            <a:avLst>
              <a:gd name="adj" fmla="val 4848"/>
            </a:avLst>
          </a:prstGeom>
          <a:solidFill>
            <a:srgbClr val="F4F6F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152704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984248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tree, depth capped at 6. Fast, fully interpretable.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5349240" cy="1508760"/>
          </a:xfrm>
          <a:prstGeom prst="roundRect">
            <a:avLst>
              <a:gd name="adj" fmla="val 4848"/>
            </a:avLst>
          </a:prstGeom>
          <a:solidFill>
            <a:srgbClr val="F4F6F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21868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3675888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Bagged decision trees, tuned via 3-fold GridSearchCV, class_weight='balanced'.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3108960"/>
            <a:ext cx="5349240" cy="1508760"/>
          </a:xfrm>
          <a:prstGeom prst="roundRect">
            <a:avLst>
              <a:gd name="adj" fmla="val 4848"/>
            </a:avLst>
          </a:prstGeom>
          <a:solidFill>
            <a:srgbClr val="F4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321868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3675888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gradient boosting. 300 estimators, depth 5, lr=0.05.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4892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(16% positive) handled via SMOTE oversampling on the training set before all four models were trained.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Prediction System  | 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Model Comparison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7665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914400"/>
                <a:gridCol w="914400"/>
                <a:gridCol w="914400"/>
                <a:gridCol w="914400"/>
                <a:gridCol w="9144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</a:rPr>
                        <a:t>Logistic Regression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0.762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0.379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0.766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0.507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0.807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9E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</a:rPr>
                        <a:t>Decision Tree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</a:rPr>
                        <a:t>0.810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</a:rPr>
                        <a:t>0.435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</a:rPr>
                        <a:t>0.638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</a:rPr>
                        <a:t>0.517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</a:rPr>
                        <a:t>0.736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</a:rPr>
                        <a:t>Random Forest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</a:rPr>
                        <a:t>0.847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</a:rPr>
                        <a:t>0.538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</a:rPr>
                        <a:t>0.298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</a:rPr>
                        <a:t>0.384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</a:rPr>
                        <a:t>0.794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</a:rPr>
                        <a:t>XGBoost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</a:rPr>
                        <a:t>0.864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</a:rPr>
                        <a:t>0.640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</a:rPr>
                        <a:t>0.340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</a:rPr>
                        <a:t>0.444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</a:rPr>
                        <a:t>0.784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</a:rPr>
                        <a:t>LR (class_weight, no SMOTE)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</a:rPr>
                        <a:t>0.752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</a:rPr>
                        <a:t>0.362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</a:rPr>
                        <a:t>0.723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</a:rPr>
                        <a:t>0.482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</a:rPr>
                        <a:t>0.813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/home/claude/EmployeeAttritionPrediction/Documentation/figures/09_roc_compari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89520" y="1325880"/>
            <a:ext cx="4023360" cy="27889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89520" y="409651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shown for the original 3-model run — see table for all 5 variants</a:t>
            </a:r>
            <a:endParaRPr lang="en-US" sz="950" dirty="0"/>
          </a:p>
        </p:txBody>
      </p:sp>
      <p:sp>
        <p:nvSpPr>
          <p:cNvPr id="6" name="Shape 2"/>
          <p:cNvSpPr/>
          <p:nvPr/>
        </p:nvSpPr>
        <p:spPr>
          <a:xfrm>
            <a:off x="548640" y="3977640"/>
            <a:ext cx="6766560" cy="18288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</p:spPr>
      </p:sp>
      <p:sp>
        <p:nvSpPr>
          <p:cNvPr id="7" name="Text 3"/>
          <p:cNvSpPr/>
          <p:nvPr/>
        </p:nvSpPr>
        <p:spPr>
          <a:xfrm>
            <a:off x="777240" y="4114800"/>
            <a:ext cx="6309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edges out Logistic Regression on F1 (0.517 vs 0.507) — but they're within 0.02, so treated as tied. Logistic Regression wins the tie-break on ROC-AUC (0.807 vs 0.736) and is deployed.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Prediction System  |  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— Streamlit App</a:t>
            </a:r>
            <a:endParaRPr lang="en-US" sz="3000" dirty="0"/>
          </a:p>
        </p:txBody>
      </p:sp>
      <p:pic>
        <p:nvPicPr>
          <p:cNvPr id="3" name="Image 0" descr="/home/claude/EmployeeAttritionPrediction/Documentation/figures/demo_v2/predict_for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5394960" cy="2651760"/>
          </a:xfrm>
          <a:prstGeom prst="rect">
            <a:avLst/>
          </a:prstGeom>
        </p:spPr>
      </p:pic>
      <p:pic>
        <p:nvPicPr>
          <p:cNvPr id="4" name="Image 1" descr="/home/claude/EmployeeAttritionPrediction/Documentation/figures/demo_v2/predict_resul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89320" y="1371600"/>
            <a:ext cx="5394960" cy="2651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4069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page — form (left) and live result with gauge (right). Also includes Batch Prediction, Compare, and Model Insights pages.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548640" y="457200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2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employee attributes in the form</a:t>
            </a:r>
            <a:endParaRPr lang="en-US" sz="12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re-creates the 4 engineered features</a:t>
            </a:r>
            <a:endParaRPr lang="en-US" sz="12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scaler &amp; encoders from training are applied</a:t>
            </a:r>
            <a:endParaRPr lang="en-US" sz="12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risk label + probability instantly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Prediction System  |  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1064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complete pipeline: preprocessing → EDA → feature engineering → SMOTE balancing → 4-model training → evaluation → deployment.</a:t>
            </a:r>
            <a:endParaRPr lang="en-US" sz="155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OverTime, low relative income, frequent travel, and low satisfaction are the strongest attrition drivers.</a:t>
            </a:r>
            <a:endParaRPr lang="en-US" sz="155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was deployed via a defensible tie-break rule (F1 within 0.02 → best ROC-AUC wins) — not just the top scorer on one metric.</a:t>
            </a:r>
            <a:endParaRPr lang="en-US" sz="155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as a 5-page Streamlit app (Predict, Batch Prediction, Compare, Model Insights, About), plus an optional custom FastAPI + HTML/CSS/JS deployment.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Prediction System  |  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14173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SHAP explainability so HR sees *why* an employee was flagged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34440" y="23317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models to combine Logistic Regression's recall with tree-model precision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34440" y="32461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longitudinal data for time-to-attrition survival modeling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2519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34440" y="41605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into an HRIS with scheduled batch scoring &amp; manager alerts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51663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34440" y="50749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for fairness across gender, age, and marital status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Prediction System  |  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Attrition Prediction System</dc:title>
  <dc:subject>PptxGenJS Presentation</dc:subject>
  <dc:creator>Archit Srivastava, Param Gupta, Adish Tripathi</dc:creator>
  <cp:lastModifiedBy>Archit Srivastava, Param Gupta, Adish Tripathi</cp:lastModifiedBy>
  <cp:revision>1</cp:revision>
  <dcterms:created xsi:type="dcterms:W3CDTF">2026-07-11T17:41:49Z</dcterms:created>
  <dcterms:modified xsi:type="dcterms:W3CDTF">2026-07-11T17:41:49Z</dcterms:modified>
</cp:coreProperties>
</file>